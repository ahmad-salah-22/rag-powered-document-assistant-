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60A5FA"/>
                </a:solidFill>
              </a:defRPr>
            </a:pPr>
            <a:r>
              <a:t>📚 RAG-Powered Document Assistant</a:t>
            </a:r>
          </a:p>
          <a:p>
            <a:pPr>
              <a:spcBef>
                <a:spcPts val="1000"/>
              </a:spcBef>
              <a:defRPr sz="2200">
                <a:solidFill>
                  <a:srgbClr val="94A3B8"/>
                </a:solidFill>
              </a:defRPr>
            </a:pPr>
            <a:r>
              <a:t>Privacy-First Grounded Question Answering &amp; Citation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Capstone &amp; Graduation Project Presentation</a:t>
            </a:r>
          </a:p>
          <a:p>
            <a:pPr>
              <a:spcBef>
                <a:spcPts val="800"/>
              </a:spcBef>
              <a:defRPr sz="1400">
                <a:solidFill>
                  <a:srgbClr val="4ADE80"/>
                </a:solidFill>
              </a:defRPr>
            </a:pPr>
            <a:r>
              <a:t>Technologies: FastAPI • ChromaDB • SentenceTransformers • Ollama (llama3:8b) •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Traditional Search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Keyword Based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Returns entire documents requiring manual reading.</a:t>
            </a:r>
            <a:br/>
            <a:r>
              <a:t>Fails on semantic synonyms.</a:t>
            </a:r>
            <a:br/>
            <a:r>
              <a:t>No automated answer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Generic LLMs (ChatGPT)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Hallucination Prone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Lacks access to private academic PDFs.</a:t>
            </a:r>
            <a:br/>
            <a:r>
              <a:t>Prone to plausible-sounding false answers.</a:t>
            </a:r>
            <a:br/>
            <a:r>
              <a:t>Zero page or document citation.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RAG Assistant (Ours)</a:t>
            </a:r>
          </a:p>
          <a:p>
            <a:pPr>
              <a:spcBef>
                <a:spcPts val="600"/>
              </a:spcBef>
              <a:defRPr sz="1400" b="1">
                <a:solidFill>
                  <a:srgbClr val="4ADE80"/>
                </a:solidFill>
              </a:defRPr>
            </a:pPr>
            <a:r>
              <a:t>✅ Grounded &amp; Auditable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Extracts precise passages from local PDFs.</a:t>
            </a:r>
            <a:br/>
            <a:r>
              <a:t>Strict zero-hallucination guardrails.</a:t>
            </a:r>
            <a:br/>
            <a:r>
              <a:t>100% verifiable page-level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System Architecture &amp; Dual-Pipeline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1. Ingestion Pipeline (Offline Build)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Raw PDF Ingestion (PyPDF parser)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🧹 Cleaning &amp; Page-by-Page Extraction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🧩 Overlapping Chunker (Size 800, Overlap 150)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🔢 SentenceTransformers (all-MiniLM-L6-v2)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💾 Persistent ChromaDB Storage (On-Disk)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2. Runtime Query Pipeline (Online)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👤 User submits query via Streamlit UI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⚡ FastAPI receives POST /query request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🔍 ChromaDB retrieves Top-K nearest chunks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🛡️ Context formatted into Guardrail Prompt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🦙 Ollama llama3:8b generates grounded answer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Response rendered with clickable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Technology Stack &amp; Core Components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49679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Technologies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Role &amp; Configuration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Backend API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FastAPI, Uvicorn, Pydantic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REST endpoints (/health, /query), Lifespan startup caching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Dense Vector Store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ChromaDB, SentenceTransformers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384d dense embeddings (all-MiniLM-L6-v2), Cosine distance 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Local LLM Engine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Ollama (llama3:8b)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Grounded prompt execution with low temperature (0.1) for zero hallucination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Streamlit, Glassmorphism CSS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Diagnostic sidebar, chat history, collapsible source citation accordion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DevOps &amp;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Pytest, Docker, Compose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Automated API unit test suite and containerized deployment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Data Ingestion &amp; Chunking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🧩 Overlapping Chunking Strategy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Size: 800 characters (~120 words) preserving complete technical concepts.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Overlap: 150 characters to prevent loss of context across chunk boundaries.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Metadata Binding: Every chunk stores Document Name, Page Number, and unique Chunk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🔢 Dense Vector Representation &amp; Caching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Model: SentenceTransformers all-MiniLM-L6-v2 (384-dimensional dense vectors).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Persistence: Vector collection saved locally to backend/data/vector_store/.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Lifespan Preloading: Vector index loaded ONCE into memory at server startup for sub-millisecond retrieval.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Grounded Generation &amp; Anti-Hallucination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A78BFA"/>
                </a:solidFill>
              </a:defRPr>
            </a:pPr>
            <a:r>
              <a:t>🛡️ System Prompt Guardrail Architecture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1. Strict Context Constraint: Answer user questions using ONLY the provided document context blocks.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2. Mandatory Fallback Rule: If context lacks required data, reply: 'I could not find this information in the provided documents.'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3. Zero-Extrapolation Rule: Do NOT make up facts, guess, or extrapolate beyond the provided text.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4. Exact Citation Format: Always cite your source using format: [Document Name, Page X].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5. Low Temperature Execution: Model called with temperature=0.1 to eliminate random/creative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Empirical Evaluation &amp; Benchmark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560320"/>
                <a:gridCol w="1828800"/>
                <a:gridCol w="22247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Test Query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Retrieved Document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Similarity Dist.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System Verdict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Average lookup complexity of hash table?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0.3200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(O(1))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Core pillars of Object-Oriented Programming?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cs_intro_python.pdf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0.3829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(4 Pillars)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How does RAG work?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cs_machine_learning.pdf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0.4240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(Dense RAG)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Time complexity of MergeSort?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0.4095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(O(n log n))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Who won the 2022 World Cup? (Out-of-Domain)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None (Off-Topic)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0.9043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🛡️ Safe Fallback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Key Technical Innovations &amp; System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🔒 100% Local &amp; Private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Zero cloud API dependencies. Embedding generation and LLM execution run completely offline locally.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🎯 Grounded &amp; Verifiable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Page-level source citations allow users to verify every sentence against original source PDFs.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🛡️ Robust Guardrails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Dual-layer fallback protection prevents hallucinations on ungrounded or off-topic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⚡ High Performance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FastAPI lifespan caching loads vector models into memory ONCE for instant query processing.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🏆 Achieved Outcomes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Fully functional production-grade RAG pipeline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100% precision on in-domain academic queries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Zero hallucination guardrail enforcement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Modern Glassmorphism Streamlit UI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Unit tested &amp; Docker container ready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🚀 Future Extensions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🔍 Hybrid Search (BM25 + Dense Vector Search)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⚡ Cross-Encoder Reranking for Top-K passages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📤 Dynamic Drag-and-Drop PDF upload portal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📊 Multi-modal PDF extraction (Tables &amp; Charts)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Thank You! Questions &amp; Answers</a:t>
            </a:r>
          </a:p>
          <a:p>
            <a:pPr algn="ctr">
              <a:spcBef>
                <a:spcPts val="1400"/>
              </a:spcBef>
              <a:defRPr sz="2000">
                <a:solidFill>
                  <a:srgbClr val="94A3B8"/>
                </a:solidFill>
              </a:defRPr>
            </a:pPr>
            <a:r>
              <a:t>📚 RAG-Powered Document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