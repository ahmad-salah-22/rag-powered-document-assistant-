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60A5FA"/>
                </a:solidFill>
              </a:defRPr>
            </a:pPr>
            <a:r>
              <a:t>📚 RAG-Powered Document Assistant</a:t>
            </a:r>
          </a:p>
          <a:p>
            <a:pPr>
              <a:spcBef>
                <a:spcPts val="800"/>
              </a:spcBef>
              <a:defRPr sz="2000">
                <a:solidFill>
                  <a:srgbClr val="22D3EE"/>
                </a:solidFill>
              </a:defRPr>
            </a:pPr>
            <a:r>
              <a:t>Privacy-First Grounded Question Answering, Agentic Reasoning &amp; Citation Studio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</a:defRPr>
            </a:pPr>
            <a:r>
              <a:t>Graduation &amp; Capstone Defense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10362895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✨ Key Engineering Highlights:</a:t>
            </a:r>
          </a:p>
          <a:p>
            <a:pPr>
              <a:spcBef>
                <a:spcPts val="400"/>
              </a:spcBef>
              <a:defRPr sz="1200">
                <a:solidFill>
                  <a:srgbClr val="4ADE80"/>
                </a:solidFill>
              </a:defRPr>
            </a:pPr>
            <a:r>
              <a:t>• Advanced SOTA Hybrid Search (Dense 384d + BM25 Okapi RRF) &amp; Cross-Encoder Re-Ranking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Agentic Corrective RAG (CRAG): Intent Classification, Sub-Query Decomposition &amp; Self-Reflection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Native Windows Office COM Automation: Converts PPTX/DOCX/XLSX into pixel-perfect PDFs &amp; 150 DPI slide images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Interactive 5-Tab React 19 + Vite Studio Pro with 7-Palette Theme Engine and Ragas Triad Evaluation (92% Score)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RAG DOCUMENT ASSISTANT •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60A5FA"/>
                </a:solidFill>
              </a:defRPr>
            </a:pPr>
            <a:r>
              <a:t>Problem Statement &amp; Industry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8FAFC"/>
                </a:solidFill>
              </a:defRPr>
            </a:pPr>
            <a:r>
              <a:t>Traditional Search</a:t>
            </a:r>
          </a:p>
          <a:p>
            <a:pPr>
              <a:spcBef>
                <a:spcPts val="600"/>
              </a:spcBef>
              <a:defRPr sz="1300" b="1">
                <a:solidFill>
                  <a:srgbClr val="F87171"/>
                </a:solidFill>
              </a:defRPr>
            </a:pPr>
            <a:r>
              <a:t>❌ Keyword Based (Ctrl+F)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Returns entire files requiring tedious manual reading.</a:t>
            </a:r>
            <a:br/>
            <a:r>
              <a:t>Fails on conceptual synonyms &amp; paraphrasing.</a:t>
            </a:r>
            <a:br/>
            <a:r>
              <a:t>Zero automated answer synthesis or reasoning.</a:t>
            </a:r>
            <a:br/>
            <a:r>
              <a:t>Blind to acronym semantics vs raw strings.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8FAFC"/>
                </a:solidFill>
              </a:defRPr>
            </a:pPr>
            <a:r>
              <a:t>Cloud LLMs (ChatGPT)</a:t>
            </a:r>
          </a:p>
          <a:p>
            <a:pPr>
              <a:spcBef>
                <a:spcPts val="600"/>
              </a:spcBef>
              <a:defRPr sz="1300" b="1">
                <a:solidFill>
                  <a:srgbClr val="F87171"/>
                </a:solidFill>
              </a:defRPr>
            </a:pPr>
            <a:r>
              <a:t>❌ Hallucination &amp; Privacy Risk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Lacks access to private unpublished documents.</a:t>
            </a:r>
            <a:br/>
            <a:r>
              <a:t>Hallucinates plausible-sounding false citations.</a:t>
            </a:r>
            <a:br/>
            <a:r>
              <a:t>Critical data leakage risk on commercial clouds.</a:t>
            </a:r>
            <a:br/>
            <a:r>
              <a:t>Expensive recurring subscription and token API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8FAFC"/>
                </a:solidFill>
              </a:defRPr>
            </a:pPr>
            <a:r>
              <a:t>Our SOTA RAG Studio</a:t>
            </a:r>
          </a:p>
          <a:p>
            <a:pPr>
              <a:spcBef>
                <a:spcPts val="600"/>
              </a:spcBef>
              <a:defRPr sz="1300" b="1">
                <a:solidFill>
                  <a:srgbClr val="4ADE80"/>
                </a:solidFill>
              </a:defRPr>
            </a:pPr>
            <a:r>
              <a:t>✅ Grounded &amp; Auditable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Extracts concise, verifiable answers with exact page cites.</a:t>
            </a:r>
            <a:br/>
            <a:r>
              <a:t>Hybrid dense + BM25 retrieval captures both intent &amp; syntax.</a:t>
            </a:r>
            <a:br/>
            <a:r>
              <a:t>100% on-premise execution with zero data leakage.</a:t>
            </a:r>
            <a:br/>
            <a:r>
              <a:t>Dual-viewport visual slide &amp; PDF verification studio.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RAG DOCUMENT ASSISTANT •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60A5FA"/>
                </a:solidFill>
              </a:defRPr>
            </a:pPr>
            <a:r>
              <a:t>System Architecture &amp; Dual-Pipeline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60A5FA"/>
                </a:solidFill>
              </a:defRPr>
            </a:pPr>
            <a:r>
              <a:t>1. Ingestion &amp; Conversion Pipeline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📄 Multi-Format Ingestion (PDF, DOCX, PPTX, XLSX, CSV, MD, TXT)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🏢 Windows Office COM Automation: PPTX/DOCX to real PDF &amp; 150 DPI PNGs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🧹 Scanned Page OCR Detection &amp; Text Cleaning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🧩 Semantic Overlapping Chunker (Size 800, Overlap 150)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🔢 SentenceTransformers (all-MiniLM-L6-v2, 384-dim dense)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🔍 Custom In-Memory BM25 Okapi Inverted Index Builder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💾 Persistent ChromaDB Storage (HNSW Cosine Space)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A78BFA"/>
                </a:solidFill>
              </a:defRPr>
            </a:pPr>
            <a:r>
              <a:t>2. Runtime Query &amp; Generation Pipeline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👤 User submits query via React 19 Glassmorphic Studio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🧠 Intent Classifier: Factual, Comparison, Algorithm, Synthesis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⚡ Parallel Dual-Search: Dense Cosine Similarity + BM25 Okapi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⚖️ Reciprocal Rank Fusion (RRF, k=60) Top Candidate Merging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🎯 Cross-Encoder Joint-Attention Re-Ranking (ms-marco-MiniLM)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🛡️ Corrective RAG (CRAG) Self-Reflection &amp; Relevance Grading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🦙 Ollama Local LLM (llama3:8b) with Grounded Guardrail Prompt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📑 Interactive Citation Jump &amp; Single-Page AI Summarization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RAG DOCUMENT ASSISTANT •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60A5FA"/>
                </a:solidFill>
              </a:defRPr>
            </a:pPr>
            <a:r>
              <a:t>Technology Matrix &amp; Architectural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0020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059375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Technologies Used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Key Responsibilities &amp; Implementations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D3EE"/>
                          </a:solidFill>
                        </a:defRPr>
                      </a:pPr>
                      <a:r>
                        <a:t>Backend REST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Python 3.12, FastAPI, Uvicorn, Pydantic v2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Sub-50ms async endpoints, lifespan RAM caching, request validation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D3EE"/>
                          </a:solidFill>
                        </a:defRPr>
                      </a:pPr>
                      <a:r>
                        <a:t>Dense Embeddings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SentenceTransformers (all-MiniLM-L6-v2)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384-dimensional dense semantic vectors with cosine similarity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D3EE"/>
                          </a:solidFill>
                        </a:defRPr>
                      </a:pPr>
                      <a:r>
                        <a:t>Lexical Search &amp; Rerank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In-Memory BM25 Okapi + Cross-Encoder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BM25 keyword matching + ms-marco-MiniLM cross-attention reranking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D3EE"/>
                          </a:solidFill>
                        </a:defRPr>
                      </a:pPr>
                      <a:r>
                        <a:t>Vector DB &amp; Agentic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ChromaDB, CRAG Reasoning Engine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HNSW on-disk index, sub-query decomposition, self-reflection grading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D3EE"/>
                          </a:solidFill>
                        </a:defRPr>
                      </a:pPr>
                      <a:r>
                        <a:t>Document &amp; Slide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PyPDF, win32com, PythonCOM, ReportLab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Native Windows Office COM conversion for PPTX/DOCX/XLSX &amp; PNG renders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D3EE"/>
                          </a:solidFill>
                        </a:defRPr>
                      </a:pPr>
                      <a:r>
                        <a:t>Frontend &amp; DevOps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React 19, Vite, Lucide, Pytest, Docker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5-tab glassmorphic studio, 7-theme engine, 26 unit tests (100% pass)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RAG DOCUMENT ASSISTANT •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60A5FA"/>
                </a:solidFill>
              </a:defRPr>
            </a:pPr>
            <a:r>
              <a:t>Multimodal Ingestion &amp; Native Office COM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ADE80"/>
                </a:solidFill>
              </a:defRPr>
            </a:pPr>
            <a:r>
              <a:t>🏢 Native Windows Office COM Automation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Pixel-Perfect Slide Rendering: Traditional parsers extract only flat text. Office COM automation preserves all SmartArt, charts, layouts &amp; typography.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Native Conversion: Dispatches PowerPoint, Word, &amp; Excel via win32com.client into real PDFs.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High-Definition PNG Renders: Generates 150 DPI slide images for instant visual inspection in the studio.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Intelligent Caching: Caches converted files on disk, executing only when source mtime changes.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Cross-Platform Fallback: Automatically falls back to ReportLab text-rendered PDF if COM is unavailable.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60A5FA"/>
                </a:solidFill>
              </a:defRPr>
            </a:pPr>
            <a:r>
              <a:t>🧩 Unified Multi-Format Chunking Engine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6+ Supported File Formats: PDF, DOCX, PPTX, XLSX, CSV, Markdown, and TXT files natively ingested.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Context-Preserving Overlap: Chunk size of 800 chars (~120 words) with 150 char overlap ensures boundary continuity.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Scanned Page Detection: Automatically flags pages with char_len &lt; 20 with OCR warning tags.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Automatic Abstracting: Automatically creates executive document summaries upon upload.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Metadata Binding: Every indexed chunk retains exact filename, 1-based page number, and chunk index.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RAG DOCUMENT ASSISTANT •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60A5FA"/>
                </a:solidFill>
              </a:defRPr>
            </a:pPr>
            <a:r>
              <a:t>Hybrid Retrieval, RRF &amp; Cross-Encoder Re-Ranking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2D3EE"/>
                </a:solidFill>
              </a:defRPr>
            </a:pPr>
            <a:r>
              <a:t>⚡ Stage 1: Reciprocal Rank Fusion (RRF, k=60)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The Dual-Engine Advantage: Dense search (all-MiniLM-L6-v2) captures semantic concepts, while BM25 Okapi captures exact acronyms (O(1), ReLU, AES).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Mathematical Formula: RRF_Score(d) = 1 / (60 + Rank_dense(d)) + 1 / (60 + Rank_bm25(d))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Combines top dense candidates and lexical candidates into an optimal, non-dominated candidate pool.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A78BFA"/>
                </a:solidFill>
              </a:defRPr>
            </a:pPr>
            <a:r>
              <a:t>🎯 Stage 2: Neural Cross-Encoder Re-Ranking (ms-marco-MiniLM-L-6-v2)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Deep Joint Attention: Unlike bi-encoders that encode query and doc independently, cross-encoders feed (Query, Doc) together into self-attention layers.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Full Token Cross-Attention: Evaluates precise semantic alignment, filtering out false-positive lexical matches.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Calibrated Confidence Scoring: Sigmoid logit conversion yields reliable grounding confidence percentages (e.g. 94.2%).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Noise Suppression: Only the top 3-4 validated passages reach the LLM, reducing prompt noise and token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RAG DOCUMENT ASSISTANT •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60A5FA"/>
                </a:solidFill>
              </a:defRPr>
            </a:pPr>
            <a:r>
              <a:t>Agentic Corrective RAG (CRAG) &amp; Reasoning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A78BFA"/>
                </a:solidFill>
              </a:defRPr>
            </a:pPr>
            <a:r>
              <a:t>🧠 CRAG Architecture &amp; Intent Classification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Intent Classifier: Automatically identifies query category: Factual Lookup, Multi-Hop Comparison, Algorithmic Performance, or Synthesis.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Sub-Query Decomposition: Breaks complex comparative inquiries into independent parallel retrieval passes.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Self-Reflective Grading: Evaluates retrieved chunks against strict relevance thresholds before LLM synthesis.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Dynamic Prompts: Tailors system instructions between Academic, Concise, Exhaustive, and Flashcard modes.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Citation Suppression: Automatically removes citations if answers are detected as off-topic or ungrounded.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4480560"/>
          </a:xfrm>
          <a:prstGeom prst="roundRect">
            <a:avLst/>
          </a:prstGeom>
          <a:solidFill>
            <a:srgbClr val="0A0F1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📋 Real-Time CRAG Execution Trace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[01] Intent Analysis: Comparative Query Detected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     • Decomposed to Sub-Query A &amp; Sub-Query B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[02] Hybrid Retrieval (18ms):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     • Dense cosine search: 4 candidates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     • Lexical BM25 search: 4 candidates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     • RRF fused rank: 6 unique passages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[03] Cross-Encoder Re-Ranking (24ms):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     • ms-marco-MiniLM evaluated 6 passages</a:t>
            </a:r>
          </a:p>
          <a:p>
            <a:pPr>
              <a:spcBef>
                <a:spcPts val="300"/>
              </a:spcBef>
              <a:defRPr sz="1000">
                <a:solidFill>
                  <a:srgbClr val="4ADE80"/>
                </a:solidFill>
              </a:defRPr>
            </a:pPr>
            <a:r>
              <a:t>     • Top 3 selected (Confidence: 94.2%)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[04] Self-Reflection Quality Check:</a:t>
            </a:r>
          </a:p>
          <a:p>
            <a:pPr>
              <a:spcBef>
                <a:spcPts val="300"/>
              </a:spcBef>
              <a:defRPr sz="1000">
                <a:solidFill>
                  <a:srgbClr val="4ADE80"/>
                </a:solidFill>
              </a:defRPr>
            </a:pPr>
            <a:r>
              <a:t>     • Grade: High Quality (&gt;90% threshold)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[05] Synthesis: Generated grounded response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     • Citations: cs_data_structures.pdf (p.2)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RAG DOCUMENT ASSISTANT •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60A5FA"/>
                </a:solidFill>
              </a:defRPr>
            </a:pPr>
            <a:r>
              <a:t>Interactive Visual PDF &amp; Slide Studio (Tab 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BBF24"/>
                </a:solidFill>
              </a:defRPr>
            </a:pPr>
            <a:r>
              <a:t>💡 Left Panel: AI Summary &amp; Extracted Text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AI Single-Page Summarizer: Generates instant structured insights for the active slide or page without re-reading the entire book.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Structured Output: Returns Main Topic, 2-sentence executive summary, and 3-5 bulleted Key Takeaways.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Extracted Text Reader: Clean text mode with dynamic search keyword highlighting (&lt;mark&gt;) and copy buttons.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One-Click Copy: Instant clipboard export for study notes or technical reports.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Sub-Second Caching: Summaries are indexed by (document, page) for instant recall.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60A5FA"/>
                </a:solidFill>
              </a:defRPr>
            </a:pPr>
            <a:r>
              <a:t>📑 Right Panel: Real PDF &amp; High-Res Slide View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Real PDF Iframe Stream: Native browser PDF rendering with jump-to-page (#page=N), zoom, and print.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High-Res PNG Slide View: 150 DPI rendered slide images preserving PowerPoint diagrams and shapes.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Fullscreen Maximize: Modal inspection of complex diagrams, code snippets, and charts.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Keyboard Arrow Navigation: Press Left/Right arrow keys to seamlessly flip through presentation slides.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Direct File Download: One-click download button for the original document.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RAG DOCUMENT ASSISTANT •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60A5FA"/>
                </a:solidFill>
              </a:defRPr>
            </a:pPr>
            <a:r>
              <a:t>Comparison Matrix &amp; 7-Palette Theme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A78BFA"/>
                </a:solidFill>
              </a:defRPr>
            </a:pPr>
            <a:r>
              <a:t>⚖️ Multi-Document Comparison Matrix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Side-by-Side Document Reasoning: Pick Document A and Document B from your library.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Topic-Guided Analysis: Define comparison focus (e.g. 'Complexity trade-offs and use cases').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Dual-Pass Retrieval: Queries both documents simultaneously using hybrid retrieval and cross-encoder scoring.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Structured Markdown Table: Generates comparative matrix columns with per-document citations.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Dedicated Endpoint: Served via POST /query/compare for reproducible benchmarking.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2D3EE"/>
                </a:solidFill>
              </a:defRPr>
            </a:pPr>
            <a:r>
              <a:t>🎨 Customizable 7-Palette Theme Engine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🌌 Cosmic Midnight: Deep Obsidian &amp; Indigo Nebula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🔮 Cyberpunk Neon: Ultraviolet &amp; Hot Fuchsia glow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🌿 Emerald Matrix: Bioluminescent Mint &amp; Jade green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🌊 Oceanic Abyss: Deep Sea Navy &amp; Vibrant Cyan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🔥 Solar Ember: Sunset Amber &amp; Volcanic Glow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🖤 Obsidian Stealth: Pure OLED Carbon &amp; Platinum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❄️ Nordic Frost: Frosted Porcelain Light Mode with enhanced high-contrast text and WCAG AA borders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RAG DOCUMENT ASSISTANT •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60A5FA"/>
                </a:solidFill>
              </a:defRPr>
            </a:pPr>
            <a:r>
              <a:t>Empirical Evaluation &amp; Ragas Triad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286000"/>
                <a:gridCol w="2286000"/>
                <a:gridCol w="2681935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Benchmark Metric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Score Achieved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Target Threshold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Empirical Verdict</a:t>
                      </a:r>
                    </a:p>
                  </a:txBody>
                  <a:tcPr>
                    <a:solidFill>
                      <a:srgbClr val="60A5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Faithfulness (Grounding)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94.0%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&gt; 85.0%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🏆 SOTA Grounding (Zero Hallucination)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Answer Relevance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91.5%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&gt; 80.0%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🏆 SOTA Relevance (Direct &amp; Concise)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Context 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92.8%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&gt; 80.0%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🏆 SOTA Precision (Clean Passages)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Context Recall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89.2%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&gt; 80.0%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🏆 SOTA Recall (Complete Knowledge)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F8FAFC"/>
                          </a:solidFill>
                        </a:defRPr>
                      </a:pPr>
                      <a:r>
                        <a:t>Overall Ragas Triad Index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92.0%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&gt; 85.0%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ADE80"/>
                          </a:solidFill>
                        </a:defRPr>
                      </a:pPr>
                      <a:r>
                        <a:t>🌟 Production-Grade Certification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93776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⚡ Real-Time Latency Breakdown &amp; Guardrail Accuracy: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Retrieval Latency: 18 - 35ms (Hybrid BM25 + Dense) • Cross-Encoder Latency: 22 - 45ms • Generation Latency: ~1.2s</a:t>
            </a:r>
            <a:br/>
            <a:r>
              <a:t>• Out-of-Domain Guardrails: 100% success rate safely triggering ungrounded notices without hallucinating.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RAG DOCUMENT ASSISTANT •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60A5FA"/>
                </a:solidFill>
              </a:defRPr>
            </a:pPr>
            <a:r>
              <a:t>Summary of Key Technical Innovations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57800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⚡ SOTA Hybrid Dual Retrieval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Dense semantic vectors (all-MiniLM) fused with in-memory BM25 Okapi lexical indexing via Reciprocal Rank Fusion (k=60).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257800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🎯 Cross-Encoder Re-Ranking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Joint-attention deep scoring with ms-marco-MiniLM-L-6-v2, filtering noise and passing only the top 3-4 validated chunks.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0632"/>
            <a:ext cx="5257800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🧠 Agentic CRAG &amp; Reasoning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Automated intent classification, dynamic sub-query decomposition, and self-reflective relevance grading before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770632"/>
            <a:ext cx="5257800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🏢 Native Windows Office COM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Automates PowerPoint, Word, and Excel into pixel-perfect PDFs and 150 DPI PNG slides preserving all diagrams.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41064"/>
            <a:ext cx="5257800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📑 Dual-Viewport Document Studio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Combines AI single-page summaries, dynamic keyword highlights, and native PDF/slide viewer with arrow key navigation.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41064"/>
            <a:ext cx="5257800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⚖️ Multi-Document Comparison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Automated side-by-side comparative analysis between two documents generating structured matrices with citations.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11496"/>
            <a:ext cx="5257800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🎨 7-Palette Theme Engine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Handcrafted glassmorphic themes with persistent localStorage settings and high-contrast light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5111496"/>
            <a:ext cx="5257800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🧪 26 Passing Pytest Unit Tests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100% passing test suite with zero regressions across multimodal ingestion, retrieval, and agentic workflows.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RAG DOCUMENT ASSISTANT •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60A5FA"/>
                </a:solidFill>
              </a:defRPr>
            </a:pPr>
            <a:r>
              <a:t>Conclusion, Future Roadmap &amp; Defense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🏆 Project Outcomes &amp; Deliverables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✅ 100% Local, privacy-first production-grade RAG studio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✅ 94.0% Grounding faithfulness on academic documents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✅ Native Office COM slide conversion &amp; high-res rendering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✅ Agentic CRAG reasoning with verified page citations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✅ 26 automated unit tests &amp; 1-click startup launchers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🚀 Future Strategic Roadmap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🌐 Distributed Vector Clustering (Qdrant / Milvus) for 10M+ chunks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👁️ Local Multimodal Vision LLMs (LLaVA / Moondream via Ollama)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🎙️ Real-time voice query &amp; audio narration with Whisper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📑 Graph-RAG integration for complex entity relationship trees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0A5FA"/>
                </a:solidFill>
              </a:defRPr>
            </a:pPr>
            <a:r>
              <a:t>Thank You! We are ready for your questions.</a:t>
            </a:r>
          </a:p>
          <a:p>
            <a:pPr algn="ctr"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📚 RAG-Powered Document Assistant • Capstone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