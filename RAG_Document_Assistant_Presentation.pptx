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60A5FA"/>
                </a:solidFill>
              </a:defRPr>
            </a:pPr>
            <a:r>
              <a:t>📚 RAG-Powered Document Assistant</a:t>
            </a:r>
          </a:p>
          <a:p>
            <a:pPr>
              <a:spcBef>
                <a:spcPts val="1000"/>
              </a:spcBef>
              <a:defRPr sz="2200">
                <a:solidFill>
                  <a:srgbClr val="94A3B8"/>
                </a:solidFill>
              </a:defRPr>
            </a:pPr>
            <a:r>
              <a:t>Privacy-First Grounded Question Answering &amp; Citation System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4114800"/>
            <a:ext cx="10362895" cy="1645920"/>
          </a:xfrm>
          <a:prstGeom prst="roundRect">
            <a:avLst/>
          </a:prstGeom>
          <a:solidFill>
            <a:srgbClr val="1E293B"/>
          </a:solidFill>
          <a:ln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8FAFC"/>
                </a:solidFill>
              </a:defRPr>
            </a:pPr>
            <a:r>
              <a:t>Capstone &amp; Graduation Project Presentation</a:t>
            </a:r>
          </a:p>
          <a:p>
            <a:pPr>
              <a:spcBef>
                <a:spcPts val="800"/>
              </a:spcBef>
              <a:defRPr sz="1400">
                <a:solidFill>
                  <a:srgbClr val="4ADE80"/>
                </a:solidFill>
              </a:defRPr>
            </a:pPr>
            <a:r>
              <a:t>Technologies: FastAPI • ChromaDB • SentenceTransformers • Ollama (llama3:8b) • Streamlit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A78BFA"/>
                </a:solidFill>
              </a:defRPr>
            </a:pPr>
            <a:r>
              <a:t>RAG DOCUMENT ASSISTANT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60A5FA"/>
                </a:solidFill>
              </a:defRPr>
            </a:pPr>
            <a:r>
              <a:t>Problem Statement &amp; Motivation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28416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8FAFC"/>
                </a:solidFill>
              </a:defRPr>
            </a:pPr>
            <a:r>
              <a:t>Traditional Search</a:t>
            </a:r>
          </a:p>
          <a:p>
            <a:pPr>
              <a:spcBef>
                <a:spcPts val="600"/>
              </a:spcBef>
              <a:defRPr sz="1400" b="1">
                <a:solidFill>
                  <a:srgbClr val="F87171"/>
                </a:solidFill>
              </a:defRPr>
            </a:pPr>
            <a:r>
              <a:t>❌ Keyword Based</a:t>
            </a:r>
          </a:p>
          <a:p>
            <a:pPr>
              <a:spcBef>
                <a:spcPts val="1400"/>
              </a:spcBef>
              <a:defRPr sz="1300">
                <a:solidFill>
                  <a:srgbClr val="94A3B8"/>
                </a:solidFill>
              </a:defRPr>
            </a:pPr>
            <a:r>
              <a:t>Returns entire documents requiring manual reading.</a:t>
            </a:r>
            <a:br/>
            <a:r>
              <a:t>Fails on semantic synonyms.</a:t>
            </a:r>
            <a:br/>
            <a:r>
              <a:t>No automated answer synthesis.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25696" y="1645920"/>
            <a:ext cx="3328416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8FAFC"/>
                </a:solidFill>
              </a:defRPr>
            </a:pPr>
            <a:r>
              <a:t>Generic LLMs (ChatGPT)</a:t>
            </a:r>
          </a:p>
          <a:p>
            <a:pPr>
              <a:spcBef>
                <a:spcPts val="600"/>
              </a:spcBef>
              <a:defRPr sz="1400" b="1">
                <a:solidFill>
                  <a:srgbClr val="F87171"/>
                </a:solidFill>
              </a:defRPr>
            </a:pPr>
            <a:r>
              <a:t>❌ Hallucination Prone</a:t>
            </a:r>
          </a:p>
          <a:p>
            <a:pPr>
              <a:spcBef>
                <a:spcPts val="1400"/>
              </a:spcBef>
              <a:defRPr sz="1300">
                <a:solidFill>
                  <a:srgbClr val="94A3B8"/>
                </a:solidFill>
              </a:defRPr>
            </a:pPr>
            <a:r>
              <a:t>Lacks access to private academic PDFs.</a:t>
            </a:r>
            <a:br/>
            <a:r>
              <a:t>Prone to plausible-sounding false answers.</a:t>
            </a:r>
            <a:br/>
            <a:r>
              <a:t>Zero page or document citation.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19872" y="1645920"/>
            <a:ext cx="3328416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8FAFC"/>
                </a:solidFill>
              </a:defRPr>
            </a:pPr>
            <a:r>
              <a:t>RAG Assistant (Ours)</a:t>
            </a:r>
          </a:p>
          <a:p>
            <a:pPr>
              <a:spcBef>
                <a:spcPts val="600"/>
              </a:spcBef>
              <a:defRPr sz="1400" b="1">
                <a:solidFill>
                  <a:srgbClr val="4ADE80"/>
                </a:solidFill>
              </a:defRPr>
            </a:pPr>
            <a:r>
              <a:t>✅ Grounded &amp; Auditable</a:t>
            </a:r>
          </a:p>
          <a:p>
            <a:pPr>
              <a:spcBef>
                <a:spcPts val="1400"/>
              </a:spcBef>
              <a:defRPr sz="1300">
                <a:solidFill>
                  <a:srgbClr val="94A3B8"/>
                </a:solidFill>
              </a:defRPr>
            </a:pPr>
            <a:r>
              <a:t>Extracts precise passages from local PDFs.</a:t>
            </a:r>
            <a:br/>
            <a:r>
              <a:t>Strict zero-hallucination guardrails.</a:t>
            </a:r>
            <a:br/>
            <a:r>
              <a:t>100% verifiable page-level citations.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A78BFA"/>
                </a:solidFill>
              </a:defRPr>
            </a:pPr>
            <a:r>
              <a:t>RAG DOCUMENT ASSISTANT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60A5FA"/>
                </a:solidFill>
              </a:defRPr>
            </a:pPr>
            <a:r>
              <a:t>System Architecture &amp; Dual-Pipeline Flow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0A5FA"/>
                </a:solidFill>
              </a:defRPr>
            </a:pPr>
            <a:r>
              <a:t>1. Ingestion Pipeline (Offline Build)</a:t>
            </a:r>
          </a:p>
          <a:p>
            <a:pPr>
              <a:spcBef>
                <a:spcPts val="1000"/>
              </a:spcBef>
              <a:defRPr sz="1300">
                <a:solidFill>
                  <a:srgbClr val="F8FAFC"/>
                </a:solidFill>
              </a:defRPr>
            </a:pPr>
            <a:r>
              <a:t>📄 Raw PDF Ingestion (PyPDF parser)</a:t>
            </a:r>
          </a:p>
          <a:p>
            <a:pPr>
              <a:spcBef>
                <a:spcPts val="1000"/>
              </a:spcBef>
              <a:defRPr sz="1300">
                <a:solidFill>
                  <a:srgbClr val="F8FAFC"/>
                </a:solidFill>
              </a:defRPr>
            </a:pPr>
            <a:r>
              <a:t>🧹 Cleaning &amp; Page-by-Page Extraction</a:t>
            </a:r>
          </a:p>
          <a:p>
            <a:pPr>
              <a:spcBef>
                <a:spcPts val="1000"/>
              </a:spcBef>
              <a:defRPr sz="1300">
                <a:solidFill>
                  <a:srgbClr val="F8FAFC"/>
                </a:solidFill>
              </a:defRPr>
            </a:pPr>
            <a:r>
              <a:t>🧩 Overlapping Chunker (Size 800, Overlap 150)</a:t>
            </a:r>
          </a:p>
          <a:p>
            <a:pPr>
              <a:spcBef>
                <a:spcPts val="1000"/>
              </a:spcBef>
              <a:defRPr sz="1300">
                <a:solidFill>
                  <a:srgbClr val="F8FAFC"/>
                </a:solidFill>
              </a:defRPr>
            </a:pPr>
            <a:r>
              <a:t>🔢 SentenceTransformers (all-MiniLM-L6-v2)</a:t>
            </a:r>
          </a:p>
          <a:p>
            <a:pPr>
              <a:spcBef>
                <a:spcPts val="1000"/>
              </a:spcBef>
              <a:defRPr sz="1300">
                <a:solidFill>
                  <a:srgbClr val="F8FAFC"/>
                </a:solidFill>
              </a:defRPr>
            </a:pPr>
            <a:r>
              <a:t>💾 Persistent ChromaDB Storage (On-Disk)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39535" y="1645920"/>
            <a:ext cx="512064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A78BFA"/>
                </a:solidFill>
              </a:defRPr>
            </a:pPr>
            <a:r>
              <a:t>2. Runtime Query Pipeline (Online)</a:t>
            </a:r>
          </a:p>
          <a:p>
            <a:pPr>
              <a:spcBef>
                <a:spcPts val="1000"/>
              </a:spcBef>
              <a:defRPr sz="1300">
                <a:solidFill>
                  <a:srgbClr val="F8FAFC"/>
                </a:solidFill>
              </a:defRPr>
            </a:pPr>
            <a:r>
              <a:t>👤 User submits query via Streamlit UI</a:t>
            </a:r>
          </a:p>
          <a:p>
            <a:pPr>
              <a:spcBef>
                <a:spcPts val="1000"/>
              </a:spcBef>
              <a:defRPr sz="1300">
                <a:solidFill>
                  <a:srgbClr val="F8FAFC"/>
                </a:solidFill>
              </a:defRPr>
            </a:pPr>
            <a:r>
              <a:t>⚡ FastAPI receives POST /query request</a:t>
            </a:r>
          </a:p>
          <a:p>
            <a:pPr>
              <a:spcBef>
                <a:spcPts val="1000"/>
              </a:spcBef>
              <a:defRPr sz="1300">
                <a:solidFill>
                  <a:srgbClr val="F8FAFC"/>
                </a:solidFill>
              </a:defRPr>
            </a:pPr>
            <a:r>
              <a:t>🔍 ChromaDB retrieves Top-K nearest chunks</a:t>
            </a:r>
          </a:p>
          <a:p>
            <a:pPr>
              <a:spcBef>
                <a:spcPts val="1000"/>
              </a:spcBef>
              <a:defRPr sz="1300">
                <a:solidFill>
                  <a:srgbClr val="F8FAFC"/>
                </a:solidFill>
              </a:defRPr>
            </a:pPr>
            <a:r>
              <a:t>🛡️ Context formatted into Guardrail Prompt</a:t>
            </a:r>
          </a:p>
          <a:p>
            <a:pPr>
              <a:spcBef>
                <a:spcPts val="1000"/>
              </a:spcBef>
              <a:defRPr sz="1300">
                <a:solidFill>
                  <a:srgbClr val="F8FAFC"/>
                </a:solidFill>
              </a:defRPr>
            </a:pPr>
            <a:r>
              <a:t>🦙 Ollama llama3:8b generates grounded answer</a:t>
            </a:r>
          </a:p>
          <a:p>
            <a:pPr>
              <a:spcBef>
                <a:spcPts val="1000"/>
              </a:spcBef>
              <a:defRPr sz="1300">
                <a:solidFill>
                  <a:srgbClr val="F8FAFC"/>
                </a:solidFill>
              </a:defRPr>
            </a:pPr>
            <a:r>
              <a:t>📄 Response rendered with clickable Citations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A78BFA"/>
                </a:solidFill>
              </a:defRPr>
            </a:pPr>
            <a:r>
              <a:t>RAG DOCUMENT ASSISTANT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60A5FA"/>
                </a:solidFill>
              </a:defRPr>
            </a:pPr>
            <a:r>
              <a:t>Technology Stack &amp; Core Components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645920"/>
          <a:ext cx="10728655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3200400"/>
                <a:gridCol w="4967935"/>
              </a:tblGrid>
              <a:tr h="731520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0F172A"/>
                          </a:solidFill>
                        </a:defRPr>
                      </a:pPr>
                      <a:r>
                        <a:t>Component</a:t>
                      </a:r>
                    </a:p>
                  </a:txBody>
                  <a:tcPr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0F172A"/>
                          </a:solidFill>
                        </a:defRPr>
                      </a:pPr>
                      <a:r>
                        <a:t>Technologies</a:t>
                      </a:r>
                    </a:p>
                  </a:txBody>
                  <a:tcPr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0F172A"/>
                          </a:solidFill>
                        </a:defRPr>
                      </a:pPr>
                      <a:r>
                        <a:t>Role &amp; Configuration</a:t>
                      </a:r>
                    </a:p>
                  </a:txBody>
                  <a:tcPr>
                    <a:solidFill>
                      <a:srgbClr val="60A5F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t>Backend API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t>FastAPI, Uvicorn, Pydantic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t>REST endpoints (/health, /query), Lifespan startup caching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t>Dense Vector Store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t>ChromaDB, SentenceTransformers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t>384d dense embeddings (all-MiniLM-L6-v2), Cosine distance metric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t>Local LLM Engine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t>Ollama (llama3:8b)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t>Grounded prompt execution with low temperature (0.1) for zero hallucination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t>Frontend UI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t>Streamlit Studio Pro, Glassmorphism CSS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t>Token streaming, citation cards with confidence meters, prompt library, presets, latency charts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t>DevOps &amp; Testing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t>Pytest, Docker, Compose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t>Automated API unit test suite and containerized deployment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A78BFA"/>
                </a:solidFill>
              </a:defRPr>
            </a:pPr>
            <a:r>
              <a:t>RAG DOCUMENT ASSISTANT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60A5FA"/>
                </a:solidFill>
              </a:defRPr>
            </a:pPr>
            <a:r>
              <a:t>Data Ingestion &amp; Chunking Strategy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728655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0A5FA"/>
                </a:solidFill>
              </a:defRPr>
            </a:pPr>
            <a:r>
              <a:t>🧩 Overlapping Chunking Strategy</a:t>
            </a:r>
          </a:p>
          <a:p>
            <a:pPr>
              <a:spcBef>
                <a:spcPts val="400"/>
              </a:spcBef>
              <a:defRPr sz="1300">
                <a:solidFill>
                  <a:srgbClr val="F8FAFC"/>
                </a:solidFill>
              </a:defRPr>
            </a:pPr>
            <a:r>
              <a:t>• Chunk Size: 800 characters (~120 words) preserving complete technical concepts.</a:t>
            </a:r>
          </a:p>
          <a:p>
            <a:pPr>
              <a:spcBef>
                <a:spcPts val="400"/>
              </a:spcBef>
              <a:defRPr sz="1300">
                <a:solidFill>
                  <a:srgbClr val="F8FAFC"/>
                </a:solidFill>
              </a:defRPr>
            </a:pPr>
            <a:r>
              <a:t>• Chunk Overlap: 150 characters to prevent loss of context across chunk boundaries.</a:t>
            </a:r>
          </a:p>
          <a:p>
            <a:pPr>
              <a:spcBef>
                <a:spcPts val="400"/>
              </a:spcBef>
              <a:defRPr sz="1300">
                <a:solidFill>
                  <a:srgbClr val="F8FAFC"/>
                </a:solidFill>
              </a:defRPr>
            </a:pPr>
            <a:r>
              <a:t>• Metadata Binding: Every chunk stores Document Name, Page Number, and unique Chunk ID.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931920"/>
            <a:ext cx="10728655" cy="2103120"/>
          </a:xfrm>
          <a:prstGeom prst="roundRect">
            <a:avLst/>
          </a:prstGeom>
          <a:solidFill>
            <a:srgbClr val="1E293B"/>
          </a:solidFill>
          <a:ln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4ADE80"/>
                </a:solidFill>
              </a:defRPr>
            </a:pPr>
            <a:r>
              <a:t>🔢 Dense Vector Representation &amp; Caching</a:t>
            </a:r>
          </a:p>
          <a:p>
            <a:pPr>
              <a:spcBef>
                <a:spcPts val="400"/>
              </a:spcBef>
              <a:defRPr sz="1300">
                <a:solidFill>
                  <a:srgbClr val="F8FAFC"/>
                </a:solidFill>
              </a:defRPr>
            </a:pPr>
            <a:r>
              <a:t>• Model: SentenceTransformers all-MiniLM-L6-v2 (384-dimensional dense vectors).</a:t>
            </a:r>
          </a:p>
          <a:p>
            <a:pPr>
              <a:spcBef>
                <a:spcPts val="400"/>
              </a:spcBef>
              <a:defRPr sz="1300">
                <a:solidFill>
                  <a:srgbClr val="F8FAFC"/>
                </a:solidFill>
              </a:defRPr>
            </a:pPr>
            <a:r>
              <a:t>• Persistence: Vector collection saved locally to backend/data/vector_store/.</a:t>
            </a:r>
          </a:p>
          <a:p>
            <a:pPr>
              <a:spcBef>
                <a:spcPts val="400"/>
              </a:spcBef>
              <a:defRPr sz="1300">
                <a:solidFill>
                  <a:srgbClr val="F8FAFC"/>
                </a:solidFill>
              </a:defRPr>
            </a:pPr>
            <a:r>
              <a:t>• Lifespan Preloading: Vector index loaded ONCE into memory at server startup for sub-millisecond retrieval.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A78BFA"/>
                </a:solidFill>
              </a:defRPr>
            </a:pPr>
            <a:r>
              <a:t>RAG DOCUMENT ASSISTANT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60A5FA"/>
                </a:solidFill>
              </a:defRPr>
            </a:pPr>
            <a:r>
              <a:t>Grounded Generation &amp; Anti-Hallucination Guardrails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728655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A78BFA"/>
                </a:solidFill>
              </a:defRPr>
            </a:pPr>
            <a:r>
              <a:t>🛡️ System Prompt Guardrail Architecture</a:t>
            </a:r>
          </a:p>
          <a:p>
            <a:pPr>
              <a:spcBef>
                <a:spcPts val="1000"/>
              </a:spcBef>
              <a:defRPr sz="1300">
                <a:solidFill>
                  <a:srgbClr val="F8FAFC"/>
                </a:solidFill>
              </a:defRPr>
            </a:pPr>
            <a:r>
              <a:t>1. Strict Context Constraint: Answer user questions using ONLY the provided document context blocks.</a:t>
            </a:r>
          </a:p>
          <a:p>
            <a:pPr>
              <a:spcBef>
                <a:spcPts val="1000"/>
              </a:spcBef>
              <a:defRPr sz="1300">
                <a:solidFill>
                  <a:srgbClr val="F8FAFC"/>
                </a:solidFill>
              </a:defRPr>
            </a:pPr>
            <a:r>
              <a:t>2. Mandatory Fallback Rule: If context lacks required data, reply: 'I could not find this information in the provided documents.'</a:t>
            </a:r>
          </a:p>
          <a:p>
            <a:pPr>
              <a:spcBef>
                <a:spcPts val="1000"/>
              </a:spcBef>
              <a:defRPr sz="1300">
                <a:solidFill>
                  <a:srgbClr val="F8FAFC"/>
                </a:solidFill>
              </a:defRPr>
            </a:pPr>
            <a:r>
              <a:t>3. Zero-Extrapolation Rule: Do NOT make up facts, guess, or extrapolate beyond the provided text.</a:t>
            </a:r>
          </a:p>
          <a:p>
            <a:pPr>
              <a:spcBef>
                <a:spcPts val="1000"/>
              </a:spcBef>
              <a:defRPr sz="1300">
                <a:solidFill>
                  <a:srgbClr val="F8FAFC"/>
                </a:solidFill>
              </a:defRPr>
            </a:pPr>
            <a:r>
              <a:t>4. Exact Citation Format: Always cite your source using format: [Document Name, Page X].</a:t>
            </a:r>
          </a:p>
          <a:p>
            <a:pPr>
              <a:spcBef>
                <a:spcPts val="1000"/>
              </a:spcBef>
              <a:defRPr sz="1300">
                <a:solidFill>
                  <a:srgbClr val="F8FAFC"/>
                </a:solidFill>
              </a:defRPr>
            </a:pPr>
            <a:r>
              <a:t>5. Low Temperature Execution: Model called with temperature=0.1 to eliminate random/creative output.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A78BFA"/>
                </a:solidFill>
              </a:defRPr>
            </a:pPr>
            <a:r>
              <a:t>RAG DOCUMENT ASSISTANT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60A5FA"/>
                </a:solidFill>
              </a:defRPr>
            </a:pPr>
            <a:r>
              <a:t>Empirical Evaluation &amp; Benchmark Matrix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645920"/>
          <a:ext cx="10728655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2560320"/>
                <a:gridCol w="1828800"/>
                <a:gridCol w="2224735"/>
              </a:tblGrid>
              <a:tr h="731520"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0F172A"/>
                          </a:solidFill>
                        </a:defRPr>
                      </a:pPr>
                      <a:r>
                        <a:t>Test Query</a:t>
                      </a:r>
                    </a:p>
                  </a:txBody>
                  <a:tcPr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0F172A"/>
                          </a:solidFill>
                        </a:defRPr>
                      </a:pPr>
                      <a:r>
                        <a:t>Retrieved Document</a:t>
                      </a:r>
                    </a:p>
                  </a:txBody>
                  <a:tcPr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0F172A"/>
                          </a:solidFill>
                        </a:defRPr>
                      </a:pPr>
                      <a:r>
                        <a:t>Similarity Dist.</a:t>
                      </a:r>
                    </a:p>
                  </a:txBody>
                  <a:tcPr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0F172A"/>
                          </a:solidFill>
                        </a:defRPr>
                      </a:pPr>
                      <a:r>
                        <a:t>System Verdict</a:t>
                      </a:r>
                    </a:p>
                  </a:txBody>
                  <a:tcPr>
                    <a:solidFill>
                      <a:srgbClr val="60A5F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Average lookup complexity of hash table?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cs_data_structures.pdf (p.2)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0.3200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ADE80"/>
                          </a:solidFill>
                        </a:defRPr>
                      </a:pPr>
                      <a:r>
                        <a:t>✅ Grounded (O(1))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Core pillars of Object-Oriented Programming?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cs_intro_python.pdf (p.3)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0.3829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ADE80"/>
                          </a:solidFill>
                        </a:defRPr>
                      </a:pPr>
                      <a:r>
                        <a:t>✅ Grounded (4 Pillars)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How does RAG work?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cs_machine_learning.pdf (p.3)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0.4240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ADE80"/>
                          </a:solidFill>
                        </a:defRPr>
                      </a:pPr>
                      <a:r>
                        <a:t>✅ Grounded (Dense RAG)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Time complexity of MergeSort?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cs_data_structures.pdf (p.3)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0.4095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ADE80"/>
                          </a:solidFill>
                        </a:defRPr>
                      </a:pPr>
                      <a:r>
                        <a:t>✅ Grounded (O(n log n))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Who won the 2022 World Cup? (Out-of-Domain)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None (Off-Topic)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0.9043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ADE80"/>
                          </a:solidFill>
                        </a:defRPr>
                      </a:pPr>
                      <a:r>
                        <a:t>🛡️ Safe Fallback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A78BFA"/>
                </a:solidFill>
              </a:defRPr>
            </a:pPr>
            <a:r>
              <a:t>RAG DOCUMENT ASSISTANT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60A5FA"/>
                </a:solidFill>
              </a:defRPr>
            </a:pPr>
            <a:r>
              <a:t>Key Technical Innovations &amp; System Highlights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50815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0A5FA"/>
                </a:solidFill>
              </a:defRPr>
            </a:pPr>
            <a:r>
              <a:t>📁 Dynamic Multi-Format Ingestion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On-the-fly parsing &amp; embedding of PDF, TXT, and Markdown files with zero server restart required.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645920"/>
            <a:ext cx="5150815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0A5FA"/>
                </a:solidFill>
              </a:defRPr>
            </a:pPr>
            <a:r>
              <a:t>🎯 Grounded &amp; Verifiable Citations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Page-level source citations and confidence meters allow users to audit and verify every response.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31920"/>
            <a:ext cx="5150815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0A5FA"/>
                </a:solidFill>
              </a:defRPr>
            </a:pPr>
            <a:r>
              <a:t>🛡️ Dual-Engine Offline Fallback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High-fidelity Ollama LLM execution paired with an intelligent extractive fallback if offline.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3931920"/>
            <a:ext cx="5150815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0A5FA"/>
                </a:solidFill>
              </a:defRPr>
            </a:pPr>
            <a:r>
              <a:t>⚡ 4-Tab Glassmorphism Studio Pro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Full workspace with real-time token streaming, prompt library, demo loader, presets, and latency analytics.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A78BFA"/>
                </a:solidFill>
              </a:defRPr>
            </a:pPr>
            <a:r>
              <a:t>RAG DOCUMENT ASSISTANT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60A5FA"/>
                </a:solidFill>
              </a:defRPr>
            </a:pPr>
            <a:r>
              <a:t>Conclusion &amp; Future Roadmap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4ADE80"/>
                </a:solidFill>
              </a:defRPr>
            </a:pPr>
            <a:r>
              <a:t>🏆 Achieved Outcomes</a:t>
            </a:r>
          </a:p>
          <a:p>
            <a:pPr>
              <a:spcBef>
                <a:spcPts val="1200"/>
              </a:spcBef>
              <a:defRPr sz="1300">
                <a:solidFill>
                  <a:srgbClr val="F8FAFC"/>
                </a:solidFill>
              </a:defRPr>
            </a:pPr>
            <a:r>
              <a:t>✅ Fully functional production-grade RAG pipeline</a:t>
            </a:r>
          </a:p>
          <a:p>
            <a:pPr>
              <a:spcBef>
                <a:spcPts val="1200"/>
              </a:spcBef>
              <a:defRPr sz="1300">
                <a:solidFill>
                  <a:srgbClr val="F8FAFC"/>
                </a:solidFill>
              </a:defRPr>
            </a:pPr>
            <a:r>
              <a:t>✅ 100% precision on in-domain academic queries</a:t>
            </a:r>
          </a:p>
          <a:p>
            <a:pPr>
              <a:spcBef>
                <a:spcPts val="1200"/>
              </a:spcBef>
              <a:defRPr sz="1300">
                <a:solidFill>
                  <a:srgbClr val="F8FAFC"/>
                </a:solidFill>
              </a:defRPr>
            </a:pPr>
            <a:r>
              <a:t>✅ Zero hallucination guardrail enforcement</a:t>
            </a:r>
          </a:p>
          <a:p>
            <a:pPr>
              <a:spcBef>
                <a:spcPts val="1200"/>
              </a:spcBef>
              <a:defRPr sz="1300">
                <a:solidFill>
                  <a:srgbClr val="F8FAFC"/>
                </a:solidFill>
              </a:defRPr>
            </a:pPr>
            <a:r>
              <a:t>✅ Modern Glassmorphism Streamlit UI</a:t>
            </a:r>
          </a:p>
          <a:p>
            <a:pPr>
              <a:spcBef>
                <a:spcPts val="1200"/>
              </a:spcBef>
              <a:defRPr sz="1300">
                <a:solidFill>
                  <a:srgbClr val="F8FAFC"/>
                </a:solidFill>
              </a:defRPr>
            </a:pPr>
            <a:r>
              <a:t>✅ Unit tested &amp; Docker container ready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39535" y="1645920"/>
            <a:ext cx="512064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A78BFA"/>
                </a:solidFill>
              </a:defRPr>
            </a:pPr>
            <a:r>
              <a:t>🚀 Future Extensions</a:t>
            </a:r>
          </a:p>
          <a:p>
            <a:pPr>
              <a:spcBef>
                <a:spcPts val="1400"/>
              </a:spcBef>
              <a:defRPr sz="1300">
                <a:solidFill>
                  <a:srgbClr val="F8FAFC"/>
                </a:solidFill>
              </a:defRPr>
            </a:pPr>
            <a:r>
              <a:t>🔍 Hybrid Search (BM25 + Dense Vector Search)</a:t>
            </a:r>
          </a:p>
          <a:p>
            <a:pPr>
              <a:spcBef>
                <a:spcPts val="1400"/>
              </a:spcBef>
              <a:defRPr sz="1300">
                <a:solidFill>
                  <a:srgbClr val="F8FAFC"/>
                </a:solidFill>
              </a:defRPr>
            </a:pPr>
            <a:r>
              <a:t>⚡ Cross-Encoder Reranking for Top-K passages</a:t>
            </a:r>
          </a:p>
          <a:p>
            <a:pPr>
              <a:spcBef>
                <a:spcPts val="1400"/>
              </a:spcBef>
              <a:defRPr sz="1300">
                <a:solidFill>
                  <a:srgbClr val="F8FAFC"/>
                </a:solidFill>
              </a:defRPr>
            </a:pPr>
            <a:r>
              <a:t>📤 Dynamic Drag-and-Drop PDF upload portal</a:t>
            </a:r>
          </a:p>
          <a:p>
            <a:pPr>
              <a:spcBef>
                <a:spcPts val="1400"/>
              </a:spcBef>
              <a:defRPr sz="1300">
                <a:solidFill>
                  <a:srgbClr val="F8FAFC"/>
                </a:solidFill>
              </a:defRPr>
            </a:pPr>
            <a:r>
              <a:t>📊 Multi-modal PDF extraction (Tables &amp; Charts)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6289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60A5FA"/>
                </a:solidFill>
              </a:defRPr>
            </a:pPr>
            <a:r>
              <a:t>Thank You! Questions &amp; Answers</a:t>
            </a:r>
          </a:p>
          <a:p>
            <a:pPr algn="ctr">
              <a:spcBef>
                <a:spcPts val="1400"/>
              </a:spcBef>
              <a:defRPr sz="2000">
                <a:solidFill>
                  <a:srgbClr val="94A3B8"/>
                </a:solidFill>
              </a:defRPr>
            </a:pPr>
            <a:r>
              <a:t>📚 RAG-Powered Document Assistant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